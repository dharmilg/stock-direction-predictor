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Inter"/>
              </a:defRPr>
            </a:pPr>
            <a:r>
              <a:t>01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COLLEGE REVIEW  •  NSE  •  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Which way will NSE move tomorrow?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DDDDD"/>
                </a:solidFill>
                <a:latin typeface="Inter"/>
              </a:defRPr>
            </a:pPr>
            <a:r>
              <a:t>UP / FLAT / DOWN in 5 days  •  leakage-free  •  real costs  •  news tested, baseline still wins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657600" cy="146304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47.14%  vs  47.85%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model vs majority  •  n 37,292  •  −0.71 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37744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AUC 0.55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ranking 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37744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ECE 0.04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calibrated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377440"/>
            <a:ext cx="19202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−0.28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best Sharpe &lt;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5669280" cy="118872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190k news rows collected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NSE 93k  •  DOC 9k  •  BigQuery 89k  •  FinBERT 26k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023360"/>
            <a:ext cx="5029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One command  →  full run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start_run.py  •  NIFTY 50  •  16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A8A8A"/>
                </a:solidFill>
                <a:latin typeface="Inter"/>
              </a:defRPr>
            </a:pPr>
            <a:r>
              <a:t>Your Name  •  Guide  •  Dept  •  Sept 2026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01  • 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Montserrat"/>
              </a:defRPr>
            </a:pPr>
            <a:r>
              <a:t>Price alone doesn't explain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Inter"/>
              </a:defRPr>
            </a:pPr>
            <a:r>
              <a:t>Results, policy and group shocks move many stocks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5661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16 years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2010 → 2026  •  daily NSE bars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566160" cy="155448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50 stocks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NIFTY 50 together, not one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46888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~145 feats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price + volume + macro + ranks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03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02  •  DATA WE GATHERED SINCE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Montserrat"/>
              </a:defRPr>
            </a:pPr>
            <a:r>
              <a:t>From zero news to 190k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Inter"/>
              </a:defRPr>
            </a:pPr>
            <a:r>
              <a:t>All free sources. No faked sentiment.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743200" cy="155448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92,960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NSE announcements  •  50 symbols  •  since 2004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468880"/>
            <a:ext cx="27432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9,179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GDELT DOC  •  38 symbols  •  90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468880"/>
            <a:ext cx="27432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88,798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BigQuery events  •  2015–26  •  11 symbols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468880"/>
            <a:ext cx="2103120" cy="155448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26k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FinBERT scored  •  cached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Inter"/>
              </a:defRPr>
            </a:pPr>
            <a:r>
              <a:t>Skew is real: LT 22k, INFY 21.7k — 39 symbols near-zero. Banks/FMCG rarely coded as events.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04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03  •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Montserrat"/>
              </a:defRPr>
            </a:pPr>
            <a:r>
              <a:t>Five stages. No future peek.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103120" cy="182880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  INGEST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yfinance + NSE 93k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DOC 9k + BQ 89k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3154680"/>
            <a:ext cx="228600" cy="2032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360" y="2377440"/>
            <a:ext cx="21031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ontserrat"/>
              </a:rPr>
              <a:t>2  STORE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Parquet per symbol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as_of &lt;= 15:30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83479" y="3154680"/>
            <a:ext cx="228600" cy="2032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12079" y="2377440"/>
            <a:ext cx="21031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ontserrat"/>
              </a:rPr>
              <a:t>3  FEATURES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~145 cols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ranks + macro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199" y="3154680"/>
            <a:ext cx="228600" cy="2032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2377440"/>
            <a:ext cx="2103120" cy="182880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  LEARN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LightGBM vs Logistic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Optuna 25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46920" y="3154680"/>
            <a:ext cx="228600" cy="203200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19" y="2377440"/>
            <a:ext cx="2103120" cy="182880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  DECIDE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calibrate, 0.60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or silence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064240" cy="6400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Rule: feature(t) sees only data ≤ t 15:30  •  entry t+1 open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05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04  •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Montserrat"/>
              </a:defRPr>
            </a:pPr>
            <a:r>
              <a:t>Two models. One decision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383280" cy="192024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LightGBM  •  primary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200 numbers → trees fix errors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DDDDDD"/>
                </a:solidFill>
                <a:latin typeface="Inter"/>
              </a:rPr>
              <a:t>→ 3 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3108960" cy="1920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ontserrat"/>
              </a:rPr>
              <a:t>Logistic  •  check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same input, simple line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ruler, not partner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377440"/>
            <a:ext cx="3657600" cy="1920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ontserrat"/>
              </a:rPr>
              <a:t>Decide  •  τ flat 0.40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soften → pick best → &lt;0.60 silence</a:t>
            </a:r>
          </a:p>
          <a:p>
            <a:pPr algn="ctr">
              <a:spcBef>
                <a:spcPts val="100"/>
              </a:spcBef>
            </a:pPr>
            <a:r>
              <a:rPr sz="1000">
                <a:solidFill>
                  <a:srgbClr val="333333"/>
                </a:solidFill>
                <a:latin typeface="Inter"/>
              </a:rPr>
              <a:t>DM +9.14, economics 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  <a:latin typeface="Inter"/>
              </a:defRPr>
            </a:pPr>
            <a:r>
              <a:t>Validation: train → test year by year, 5-day gap, sealed 2023–now.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 animBg="1"/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Inter"/>
              </a:defRPr>
            </a:pPr>
            <a:r>
              <a:t>06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05  •  HEADLINE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ontserrat"/>
              </a:defRPr>
            </a:pPr>
            <a:r>
              <a:t>Baseline still wins. −0.71 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DDDDD"/>
                </a:solidFill>
                <a:latin typeface="Inter"/>
              </a:defRPr>
            </a:pPr>
            <a:r>
              <a:t>47.14% vs 47.85%  •  AUC 0.554  •  MCC 0.037  •  FLAT F1 0.21  •  n 37,292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7432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UP-AUC 0.51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floor ≈ 0.515  •  4 tries,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468880"/>
            <a:ext cx="27432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DM −4.8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worse than linear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468880"/>
            <a:ext cx="246888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ECE 0.042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calibrated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468880"/>
            <a:ext cx="2377440" cy="13716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Sharpe −2.5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V0, 3,080 trades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07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06  •  PROOF  • 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Montserrat"/>
              </a:defRPr>
            </a:pPr>
            <a:r>
              <a:t>What the model got right.</a:t>
            </a:r>
          </a:p>
        </p:txBody>
      </p:sp>
      <p:pic>
        <p:nvPicPr>
          <p:cNvPr id="6" name="Picture 5" descr="prediction_correc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657600" cy="4023360"/>
          </a:xfrm>
          <a:prstGeom prst="rect">
            <a:avLst/>
          </a:prstGeom>
        </p:spPr>
      </p:pic>
      <p:pic>
        <p:nvPicPr>
          <p:cNvPr id="7" name="Picture 6" descr="rolling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37360"/>
            <a:ext cx="3657600" cy="4023360"/>
          </a:xfrm>
          <a:prstGeom prst="rect">
            <a:avLst/>
          </a:prstGeom>
        </p:spPr>
      </p:pic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37360"/>
            <a:ext cx="356616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35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prediction_correctness.png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035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rolling_accuracy.png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035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confusion_matrix.png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08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07  •  PROOF  •  MONEY +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Montserrat"/>
              </a:defRPr>
            </a:pPr>
            <a:r>
              <a:t>Costs beat edge. Every time.</a:t>
            </a:r>
          </a:p>
        </p:txBody>
      </p:sp>
      <p:pic>
        <p:nvPicPr>
          <p:cNvPr id="6" name="Picture 5" descr="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743200" cy="4023360"/>
          </a:xfrm>
          <a:prstGeom prst="rect">
            <a:avLst/>
          </a:prstGeom>
        </p:spPr>
      </p:pic>
      <p:pic>
        <p:nvPicPr>
          <p:cNvPr id="7" name="Picture 6" descr="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37360"/>
            <a:ext cx="2743200" cy="4023360"/>
          </a:xfrm>
          <a:prstGeom prst="rect">
            <a:avLst/>
          </a:prstGeom>
        </p:spPr>
      </p:pic>
      <p:pic>
        <p:nvPicPr>
          <p:cNvPr id="8" name="Picture 7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2743200" cy="4023360"/>
          </a:xfrm>
          <a:prstGeom prst="rect">
            <a:avLst/>
          </a:prstGeom>
        </p:spPr>
      </p:pic>
      <p:pic>
        <p:nvPicPr>
          <p:cNvPr id="9" name="Picture 8" descr="shap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737360"/>
            <a:ext cx="256032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equity_curve.png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drawdown.png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calibration.png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0350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8A8A8A"/>
                </a:solidFill>
                <a:latin typeface="Inter"/>
              </a:defRPr>
            </a:pPr>
            <a:r>
              <a:t>shap_summary.png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09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08  •  WHY BASELINE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Montserrat"/>
              </a:defRPr>
            </a:pPr>
            <a:r>
              <a:t>Four honest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97480" cy="164592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UP 0.51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4 attempts within 2SE  •  ceiling, not 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377440"/>
            <a:ext cx="269748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Sentiment ∅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pos-sent 0.486 &lt; coin  •  43% ≈ no-news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269748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Memorized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train–test gap 21.7pp  •  disqualified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377440"/>
            <a:ext cx="2240280" cy="164592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Costs 2:1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every bucket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333333"/>
                </a:solidFill>
                <a:latin typeface="Inter"/>
              </a:defRPr>
            </a:pPr>
            <a:r>
              <a:t>Scope check ~null  •  DOWN reframe failed  •  details: up_autopsy.json, u3_d1.json, worst_20.csv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Inter"/>
              </a:defRPr>
            </a:pPr>
            <a:r>
              <a:t>10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09  •  ECONOMICS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Pause trading. Keep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DDDDD"/>
                </a:solidFill>
                <a:latin typeface="Inter"/>
              </a:defRPr>
            </a:pPr>
            <a:r>
              <a:t>V0 −37% (−2.49)  →  thr70 −4.5% (−0.85)  →  futures-proxy −4.2% (−0.28).  PBO 0.0 = clean fail, not luck.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5661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3,080 → 338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fewer trades help, still &lt;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566160" cy="13716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Costs &gt; edge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0.024% vs 0.012% per trade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651760"/>
            <a:ext cx="338328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22 touches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ledgered, no luck-mining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8A8A8A"/>
                </a:solidFill>
                <a:latin typeface="Inter"/>
              </a:defRPr>
            </a:pPr>
            <a:r>
              <a:t>11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10  • 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0000"/>
                </a:solidFill>
                <a:latin typeface="Montserrat"/>
              </a:defRPr>
            </a:pPr>
            <a:r>
              <a:t>Done. Failed.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86868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DONE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NSE 93k  •  DOC 9k  •  BQ 89k  •  calendar  •  maps  •  ECE 0.042  •  τ-flat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108813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FAILED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H1 / H1b / U / U3 / DOWN / G3 — UP-AUC never &gt; 0.53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8813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NEXT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entity map → one U2 gate  •  else Door C + thesis write-up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Inter"/>
              </a:defRPr>
            </a:pPr>
            <a:r>
              <a:t>12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675120"/>
            <a:ext cx="11091672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A8A8A"/>
                </a:solidFill>
                <a:latin typeface="Inter"/>
              </a:defRPr>
            </a:pPr>
            <a:r>
              <a:t>11  • 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ontserrat"/>
              </a:defRPr>
            </a:pPr>
            <a:r>
              <a:t>Paper. Poster. Repo.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566160" cy="13716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Paper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Inter"/>
              </a:rPr>
              <a:t>negative-result study +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35661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Poster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boxes + 7 original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468880"/>
            <a:ext cx="338328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Montserrat"/>
              </a:rPr>
              <a:t>Repo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Inter"/>
              </a:rPr>
              <a:t>reproducible  •  API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Thank you — Questions?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3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 animBg="1"/>
      <p:bldP spid="8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748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Dharmil Gajjar</cp:lastModifiedBy>
  <cp:revision>2</cp:revision>
  <dcterms:created xsi:type="dcterms:W3CDTF">2013-01-27T09:14:16Z</dcterms:created>
  <dcterms:modified xsi:type="dcterms:W3CDTF">2026-09-21T03:07:54Z</dcterms:modified>
  <cp:category/>
</cp:coreProperties>
</file>